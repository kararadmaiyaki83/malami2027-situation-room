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ackground Card -->
      <p:sp>
        <p:nvSpPr>
          <p:cNvPr id="20" name="Hero"/>
          <p:cNvSpPr/>
          <p:nvPr/>
        </p:nvSpPr>
        <p:spPr>
          <a:xfrm>
            <a:off x="1000000" y="1200000"/>
            <a:ext cx="10192000" cy="4500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25400">
            <a:solidFill>
              <a:srgbClr val="059669"/>
            </a:solidFill>
          </a:ln>
        </p:spPr>
        <p:txBody>
          <a:bodyPr lIns="500000" tIns="400000" rIns="500000" bIns="400000" anchor="ctr"/>
          <a:lstStyle/>
          <a:p>
            <a:pPr algn="ctr"/>
            <a:r>
              <a:rPr lang="en-US" sz="1300" b="1">
                <a:solidFill>
                  <a:srgbClr val="34D399"/>
                </a:solidFill>
              </a:rPr>
              <a:t>AFRICAN DEMOCRATIC CONGRESS (ADC 🤝) • KEBBI 2027 GUBERNATORIAL PROJECT</a:t>
            </a:r>
          </a:p>
          <a:p>
            <a:pPr algn="ctr">
              <a:spcBef>
                <a:spcPts val="1200"/>
              </a:spcBef>
              <a:spcAft>
                <a:spcPts val="800"/>
              </a:spcAft>
            </a:pPr>
            <a:r>
              <a:rPr lang="en-US" sz="3400" b="1">
                <a:solidFill>
                  <a:srgbClr val="FFFFFF"/>
                </a:solidFill>
              </a:rPr>
              <a:t>ELECTORAL SITUATION ROOM &amp; PVT FORENSIC COMMAND</a:t>
            </a:r>
          </a:p>
          <a:p>
            <a:pPr algn="ctr">
              <a:spcAft>
                <a:spcPts val="1800"/>
              </a:spcAft>
            </a:pPr>
            <a:r>
              <a:rPr lang="en-US" sz="1800" b="1">
                <a:solidFill>
                  <a:srgbClr val="FBBF24"/>
                </a:solidFill>
              </a:rPr>
              <a:t>Comprehensive Turnkey Strategy, Field Telemetry Architecture &amp; Financial Implications</a:t>
            </a:r>
          </a:p>
          <a:p>
            <a:pPr algn="ctr">
              <a:spcBef>
                <a:spcPts val="800"/>
              </a:spcBef>
            </a:pPr>
            <a:r>
              <a:rPr lang="en-US" sz="1600" b="1">
                <a:solidFill>
                  <a:srgbClr val="FFFFFF"/>
                </a:solidFill>
              </a:rPr>
              <a:t>PREPARED FOR: ABUBAKAR MALAMI, SAN, CON</a:t>
            </a:r>
          </a:p>
          <a:p>
            <a:pPr algn="ctr"/>
            <a:r>
              <a:rPr lang="en-US" sz="1200">
                <a:solidFill>
                  <a:srgbClr val="94A3B8"/>
                </a:solidFill>
              </a:rPr>
              <a:t>Former Attorney-General of the Federation &amp; Minister of Justice | ADC Gubernatorial Standard Bearer</a:t>
            </a:r>
          </a:p>
          <a:p>
            <a:pPr algn="ctr">
              <a:spcBef>
                <a:spcPts val="1400"/>
              </a:spcBef>
            </a:pPr>
            <a:r>
              <a:rPr lang="en-US" sz="1100" b="1">
                <a:solidFill>
                  <a:srgbClr val="34D399"/>
                </a:solidFill>
              </a:rPr>
              <a:t>Powered by GetoCore Digital Innovation × TEEM TECH Solution | IT: Fatima Sulaiman Umar (08035533332 / 09035328748)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Category Badge -->
      <p:sp>
        <p:nvSpPr>
          <p:cNvPr id="10" name="Badge"/>
          <p:cNvSpPr/>
          <p:nvPr/>
        </p:nvSpPr>
        <p:spPr>
          <a:xfrm>
            <a:off x="609600" y="457200"/>
            <a:ext cx="4000000" cy="35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txBody>
          <a:bodyPr lIns="100000" tIns="50000" rIns="100000" bIns="50000" anchor="ctr"/>
          <a:lstStyle/>
          <a:p>
            <a:pPr algn="ctr"/>
            <a:r>
              <a:rPr lang="en-US" sz="1100" b="1">
                <a:solidFill>
                  <a:srgbClr val="34D399"/>
                </a:solidFill>
              </a:rPr>
              <a:t>SLIDE 2: STRATEGIC LESSONS</a:t>
            </a:r>
          </a:p>
        </p:txBody>
      </p:sp>
      <!-- Main Title -->
      <p:sp>
        <p:nvSpPr>
          <p:cNvPr id="11" name="Title"/>
          <p:cNvSpPr/>
          <p:nvPr/>
        </p:nvSpPr>
        <p:spPr>
          <a:xfrm>
            <a:off x="609600" y="850000"/>
            <a:ext cx="10972800" cy="550000"/>
          </a:xfrm>
        </p:spPr>
        <p:txBody>
          <a:bodyPr lIns="0" tIns="0" rIns="0" bIns="0"/>
          <a:lstStyle/>
          <a:p>
            <a:r>
              <a:rPr lang="en-US" sz="2800" b="1">
                <a:solidFill>
                  <a:srgbClr val="FFFFFF"/>
                </a:solidFill>
              </a:rPr>
              <a:t>Forensic Audit of 2023 vs. 2027 Winning Blueprint</a:t>
            </a:r>
          </a:p>
        </p:txBody>
      </p:sp>
      <!-- Subtitle -->
      <p:sp>
        <p:nvSpPr>
          <p:cNvPr id="12" name="Subtitle"/>
          <p:cNvSpPr/>
          <p:nvPr/>
        </p:nvSpPr>
        <p:spPr>
          <a:xfrm>
            <a:off x="609600" y="1450000"/>
            <a:ext cx="10972800" cy="400000"/>
          </a:xfrm>
        </p:spPr>
        <p:txBody>
          <a:bodyPr lIns="0" tIns="0" rIns="0" bIns="0"/>
          <a:lstStyle/>
          <a:p>
            <a:r>
              <a:rPr lang="en-US" sz="1300">
                <a:solidFill>
                  <a:srgbClr val="94A3B8"/>
                </a:solidFill>
              </a:rPr>
              <a:t>How APC won via Section 51 manipulation and our ironclad mathematical antidote</a:t>
            </a:r>
          </a:p>
        </p:txBody>
      </p:sp>
      <!-- Footer -->
      <p:sp>
        <p:nvSpPr>
          <p:cNvPr id="13" name="Footer"/>
          <p:cNvSpPr/>
          <p:nvPr/>
        </p:nvSpPr>
        <p:spPr>
          <a:xfrm>
            <a:off x="609600" y="6250000"/>
            <a:ext cx="10972800" cy="300000"/>
          </a:xfrm>
        </p:spPr>
        <p:txBody>
          <a:bodyPr lIns="0" tIns="0" rIns="0" bIns="0"/>
          <a:lstStyle/>
          <a:p>
            <a:r>
              <a:rPr lang="en-US" sz="950">
                <a:solidFill>
                  <a:srgbClr val="64748B"/>
                </a:solidFill>
              </a:rPr>
              <a:t>Prepared for Abubakar Malami, SAN, CON • Powered by GetoCore × TEEM TECH | IT: Fatima Sulaiman Umar (08035533332 / 09035328748)</a:t>
            </a:r>
            <a:r>
              <a:rPr lang="en-US" sz="1000" b="1">
                <a:solidFill>
                  <a:srgbClr val="10B981"/>
                </a:solidFill>
              </a:rPr>
              <a:t>   |   Slide 2 of 8</a:t>
            </a:r>
          </a:p>
        </p:txBody>
      </p:sp>
      <p:sp>
        <p:nvSpPr>
          <p:cNvPr id="21" name="Card 21"/>
          <p:cNvSpPr/>
          <p:nvPr/>
        </p:nvSpPr>
        <p:spPr>
          <a:xfrm>
            <a:off x="609600" y="2000000"/>
            <a:ext cx="5200000" cy="39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9050">
            <a:solidFill>
              <a:srgbClr val="F43F5E"/>
            </a:solidFill>
          </a:ln>
        </p:spPr>
        <p:txBody>
          <a:bodyPr lIns="200000" tIns="200000" rIns="200000" bIns="200000"/>
          <a:lstStyle/>
          <a:p>
            <a:pPr>
              <a:spcAft>
                <a:spcPts val="800"/>
              </a:spcAft>
            </a:pPr>
            <a:r>
              <a:rPr lang="en-US" sz="2000" b="1">
                <a:solidFill>
                  <a:srgbClr val="FB7185"/>
                </a:solidFill>
              </a:rPr>
              <a:t>1. THE 2023 LOSS TRAP (SECTION 51)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45,000-Vote Lead Trap: In 2023, the leading party had a 45k vote lead but election was declared inconclusive because 91,000 PVCs were cancelled.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Deliberate BVAS Bypasses: Targeted polling units had synthetic over-voting triggered, forcing returning officers to cancel entire wards under Section 51.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Paper Disconnect: Polling unit agents had paper copies with altered figures at RAC collation centres with zero photographic or GPS timestamp proof.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Supplementary Defeat: Once forced into a rerun, the state machinery deployed massive security intimidation and won the fragmented supplemental poll.</a:t>
            </a:r>
          </a:p>
        </p:txBody>
      </p:sp>
      <p:sp>
        <p:nvSpPr>
          <p:cNvPr id="22" name="Card 22"/>
          <p:cNvSpPr/>
          <p:nvPr/>
        </p:nvSpPr>
        <p:spPr>
          <a:xfrm>
            <a:off x="6382800" y="2000000"/>
            <a:ext cx="5200000" cy="3900000"/>
          </a:xfrm>
          <a:prstGeom prst="roundRect">
            <a:avLst>
              <a:gd name="adj" fmla="val 3000"/>
            </a:avLst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txBody>
          <a:bodyPr lIns="200000" tIns="200000" rIns="200000" bIns="200000"/>
          <a:lstStyle/>
          <a:p>
            <a:pPr>
              <a:spcAft>
                <a:spcPts val="800"/>
              </a:spcAft>
            </a:pPr>
            <a:r>
              <a:rPr lang="en-US" sz="2000" b="1">
                <a:solidFill>
                  <a:srgbClr val="34D399"/>
                </a:solidFill>
              </a:rPr>
              <a:t>2. THE 2027 MALAMI ANTIDOTE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Surplus Margin Buffer (+75k Target): Build a lead margin exceeding the statewide ceiling of cancelled PVCs, legally precluding any rerun declaration.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Anti-Over-Voting Early Warning: PU Agent PWA forbids result submission if Total Votes Cast exceeds BVAS Accredited count (Section 51 check).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Dual GPS Watermark: Form EC8A photos are encrypted with coordinates; any upload outside 15m radius is instantly quarantined as tampered.</a:t>
            </a:r>
          </a:p>
          <a:p>
            <a:pPr lvl="0" marL="285750">
              <a:buChar char="•"/>
              <a:spcBef>
                <a:spcPts val="600"/>
              </a:spcBef>
            </a:pPr>
            <a:r>
              <a:rPr lang="en-US" sz="1300" b="0">
                <a:solidFill>
                  <a:srgbClr val="CBD5E1"/>
                </a:solidFill>
              </a:rPr>
              <a:t>Instant Tribunal Dossier: Form EC40G protests filed within 30 minutes with cryptographic timestamps admissible under Section 84 Evidence Act.</a:t>
            </a:r>
          </a:p>
        </p:txBody>
      </p:sp>
    </p:spTree>
  </p:cSld>
  <p:clrMapOvr>
    <a:masterClrMapping/>
  </p:clrMapOvr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<a:solidFill><a:srgbClr val="020617"/></a:solidFill></p:bgPr>
    </p:bg>
    <p:spTree>
      <p:nvGrpSpPr><p:cNvPr id="1" name=""/><p:cNvGrpSpPr/><p:nvPr/></p:nvGrpSpPr>
      <p:grpSpPr><a:xfrm><a:off x="0" y="0"/><a:ext cx="0" cy="0"/><a:chOff x="0" y="0"/><a:chExt cx="0" cy="0"/></a:xfrm></p:grpSpPr>
      
    <!-- Category Badge -->
    <p:sp>
      <p:nvSpPr><p:cNvPr id="10" name="Badge"/><p:cNvSpPr/><p:nvPr/></p:nvSpPr>
      <p:spPr>
        <a:xfrm><a:off x="609600" y="457200"/><a:ext cx="4000000" cy="350000"/></a:xfrm>
        <a:prstGeom prst="roundRect"><a:avLst><a:gd name="adj" fmla="val 10000"/></a:avLst></a:prstGeom>
        <a:solidFill><a:srgbClr val="064E3B"/></a:solidFill>
        <a:ln w="12700"><a:solidFill><a:srgbClr val="10B981"/></a:solidFill></a:ln>
      </p:spPr>
      <p:txBody>
        <a:bodyPr lIns="100000" tIns="50000" rIns="100000" bIns="50000" anchor="ctr"/>
        <a:lstStyle/>
        <a:p>
          <a:pPr algn="ctr"/>
          <a:r>
            <a:rPr lang="en-US" sz="1100" b="1"><a:solidFill><a:srgbClr val="34D399"/></a:solidFill></a:rPr>
            <a:t>SLIDE 3: OPERATIONS & DISCIPLINE</a:t>
          </a:r>
        </a:p>
      </p:txBody>
    </p:sp>

    <!-- Main Title -->
    <p:sp>
      <p:nvSpPr><p:cNvPr id="11" name="Title"/><p:cNvSpPr/><p:nvPr/></p:nvSpPr>
      <p:spPr>
        <a:xfrm><a:off x="609600" y="850000"/><a:ext cx="10972800" cy="550000"/></a:xfrm>
      </p:spPr>
      <p:txBody>
        <a:bodyPr lIns="0" tIns="0" rIns="0" bIns="0"/>
        <a:lstStyle/>
        <a:p>
          <a:r>
            <a:rPr lang="en-US" sz="2800" b="1"><a:solidFill><a:srgbClr val="FFFFFF"/></a:solidFill></a:rPr>
            <a:t>4-Tier Hierarchical Electoral Command Architecture</a:t>
          </a:r>
        </a:p>
      </p:txBody>
    </p:sp>

    <!-- Subtitle -->
    <p:sp>
      <p:nvSpPr><p:cNvPr id="12" name="Subtitle"/><p:cNvSpPr/><p:nvPr/></p:nvSpPr>
      <p:spPr>
        <a:xfrm><a:off x="609600" y="1450000"/><a:ext cx="10972800" cy="400000"/></a:xfrm>
      </p:spPr>
      <p:txBody>
        <a:bodyPr lIns="0" tIns="0" rIns="0" bIns="0"/>
        <a:lstStyle/>
        <a:p>
          <a:r>
            <a:rPr lang="en-US" sz="1300"><a:solidFill><a:srgbClr val="94A3B8"/></a:solidFill></a:rPr>
            <a:t>Strict role containment ensuring impenetrable command from 3,745 PUs to State Command</a:t>
          </a:r>
        </a:p>
      </p:txBody>
    </p:sp>

    <!-- Footer -->
    <p:sp>
      <p:nvSpPr><p:cNvPr id="13" name="Footer"/><p:cNvSpPr/><p:nvPr/></p:nvSpPr>
      <p:spPr>
        <a:xfrm><a:off x="609600" y="6250000"/><a:ext cx="10972800" cy="300000"/></a:xfrm>
      </p:spPr>
      <p:txBody>
        <a:bodyPr lIns="0" tIns="0" rIns="0" bIns="0"/>
        <a:lstStyle/>
        <a:p>
          <a:r>
            <a:rPr lang="en-US" sz="950"><a:solidFill><a:srgbClr val="64748B"/></a:solidFill></a:rPr>
            <a:t>Prepared for Abubakar Malami, SAN, CON • Powered by GetoCore × TEEM TECH | IT: Fatima Sulaiman Umar (08035533332 / 09035328748)</a:t>
          </a:r>
          <a:r>
            <a:rPr lang="en-US" sz="1000" b="1"><a:solidFill><a:srgbClr val="10B981"/></a:solidFill></a:rPr>
            <a:t>   |   Slide 3 of 8</a:t>
          </a:r>
        </a:p>
      </p:txBody>
    </p:sp>
    <p:sp>
      <p:nvSpPr>
        <p:cNvPr id="31" name="Card 31"/>
        <p:cNvSpPr/>
        <p:nvPr/>
      </p:nvSpPr>
      <p:spPr>
        <a:xfrm><a:off x="609600" y="2000000"/><a:ext cx="2600000" cy="3900000"/></a:xfrm>
        <a:prstGeom prst="roundRect"><a:avLst><a:gd name="adj" fmla="val 3000"/></a:avLst></a:prstGeom>
        <a:solidFill><a:srgbClr val="0F172A"/></a:solidFill>
        <a:ln w="19050"><a:solidFill><a:srgbClr val="38BDF8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1600" b="1">
              <a:solidFill><a:srgbClr val="38BDF8"/></a:solidFill>
            </a:rPr>
            <a:t>TIER 1: 3,745 PU AGENTS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6-Stage phaser reporting: PO arrival, BVAS 000 check, queue cutoff at 2:30pm, counting, EC8A photo upload.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Strict single-PU scoping.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Offline local SQLite storage.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100% PU coverage statewide.</a:t>
          </a:r>
        </a:p>
      </p:txBody>
    </p:sp>
    <p:sp>
      <p:nvSpPr>
        <p:cNvPr id="32" name="Card 32"/>
        <p:cNvSpPr/>
        <p:nvPr/>
      </p:nvSpPr>
      <p:spPr>
        <a:xfrm><a:off x="3350000" y="2000000"/><a:ext cx="2600000" cy="3900000"/></a:xfrm>
        <a:prstGeom prst="roundRect"><a:avLst><a:gd name="adj" fmla="val 3000"/></a:avLst></a:prstGeom>
        <a:solidFill><a:srgbClr val="0F172A"/></a:solidFill>
        <a:ln w="19050"><a:solidFill><a:srgbClr val="10B981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1600" b="1">
              <a:solidFill><a:srgbClr val="34D399"/></a:solidFill>
            </a:rPr>
            <a:t>TIER 2: 225 RA SUPERVISORS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Ward RAC collation oversight.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Reconciliation of constituent PUs into Form EC8B.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Instant Form EC8B CSV export.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Motorbike rapid escort details.</a:t>
          </a:r>
        </a:p>
      </p:txBody>
    </p:sp>
    <p:sp>
      <p:nvSpPr>
        <p:cNvPr id="33" name="Card 33"/>
        <p:cNvSpPr/>
        <p:nvPr/>
      </p:nvSpPr>
      <p:spPr>
        <a:xfrm><a:off x="6100000" y="2000000"/><a:ext cx="2600000" cy="3900000"/></a:xfrm>
        <a:prstGeom prst="roundRect"><a:avLst><a:gd name="adj" fmla="val 3000"/></a:avLst></a:prstGeom>
        <a:solidFill><a:srgbClr val="0F172A"/></a:solidFill>
        <a:ln w="19050"><a:solidFill><a:srgbClr val="A855F7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1600" b="1">
              <a:solidFill><a:srgbClr val="C084FC"/></a:solidFill>
            </a:rPr>
            <a:t>TIER 3: 21 LGA SUPERVISORS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Assigned Legal Counsel at each INEC Collation Hall.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Form EC8C mathematical audit.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On-site filing of Section 51 protest affidavits to EO.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Fast-response vehicle details.</a:t>
          </a:r>
        </a:p>
      </p:txBody>
    </p:sp>
    <p:sp>
      <p:nvSpPr>
        <p:cNvPr id="34" name="Card 34"/>
        <p:cNvSpPr/>
        <p:nvPr/>
      </p:nvSpPr>
      <p:spPr>
        <a:xfrm><a:off x="8850000" y="2000000"/><a:ext cx="2732400" cy="3900000"/></a:xfrm>
        <a:prstGeom prst="roundRect"><a:avLst><a:gd name="adj" fmla="val 3000"/></a:avLst></a:prstGeom>
        <a:solidFill><a:srgbClr val="064E3B"/></a:solidFill>
        <a:ln w="19050"><a:solidFill><a:srgbClr val="F59E0B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1600" b="1">
              <a:solidFill><a:srgbClr val="FBBF24"/></a:solidFill>
            </a:rPr>
            <a:t>TIER 4: STATE COMMAND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Birnin Kebbi Situation Room.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Full oversight of all 21 LGAs.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Live PVT vs IReV disparity audit.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Sec 179(2) 25% spread tracker.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Direct channel to SAN Malami.</a:t>
          </a:r>
        </a:p>
      </p:txBody>
    </p:sp>
    </p:spTree>
  </p:cSld>
  <p:clrMapOvr><a:masterClrMapping/></p:clrMapOvr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<a:solidFill><a:srgbClr val="020617"/></a:solidFill></p:bgPr>
    </p:bg>
    <p:spTree>
      <p:nvGrpSpPr><p:cNvPr id="1" name=""/><p:cNvGrpSpPr/><p:nvPr/></p:nvGrpSpPr>
      <p:grpSpPr><a:xfrm><a:off x="0" y="0"/><a:ext cx="0" cy="0"/><a:chOff x="0" y="0"/><a:chExt cx="0" cy="0"/></a:xfrm></p:grpSpPr>
      
    <!-- Category Badge -->
    <p:sp>
      <p:nvSpPr><p:cNvPr id="10" name="Badge"/><p:cNvSpPr/><p:nvPr/></p:nvSpPr>
      <p:spPr>
        <a:xfrm><a:off x="609600" y="457200"/><a:ext cx="4000000" cy="350000"/></a:xfrm>
        <a:prstGeom prst="roundRect"><a:avLst><a:gd name="adj" fmla="val 10000"/></a:avLst></a:prstGeom>
        <a:solidFill><a:srgbClr val="064E3B"/></a:solidFill>
        <a:ln w="12700"><a:solidFill><a:srgbClr val="10B981"/></a:solidFill></a:ln>
      </p:spPr>
      <p:txBody>
        <a:bodyPr lIns="100000" tIns="50000" rIns="100000" bIns="50000" anchor="ctr"/>
        <a:lstStyle/>
        <a:p>
          <a:pPr algn="ctr"/>
          <a:r>
            <a:rPr lang="en-US" sz="1100" b="1"><a:solidFill><a:srgbClr val="34D399"/></a:solidFill></a:rPr>
            <a:t>SLIDE 4: TECHNOLOGY ARCHITECTURE</a:t>
          </a:r>
        </a:p>
      </p:txBody>
    </p:sp>

    <!-- Main Title -->
    <p:sp>
      <p:nvSpPr><p:cNvPr id="11" name="Title"/><p:cNvSpPr/><p:nvPr/></p:nvSpPr>
      <p:spPr>
        <a:xfrm><a:off x="609600" y="850000"/><a:ext cx="10972800" cy="550000"/></a:xfrm>
      </p:spPr>
      <p:txBody>
        <a:bodyPr lIns="0" tIns="0" rIns="0" bIns="0"/>
        <a:lstStyle/>
        <a:p>
          <a:r>
            <a:rPr lang="en-US" sz="2800" b="1"><a:solidFill><a:srgbClr val="FFFFFF"/></a:solidFill></a:rPr>
            <a:t>Proprietary Telemetry Engine (GetoCore × TEEM TECH)</a:t>
          </a:r>
        </a:p>
      </p:txBody>
    </p:sp>

    <!-- Subtitle -->
    <p:sp>
      <p:nvSpPr><p:cNvPr id="12" name="Subtitle"/><p:cNvSpPr/><p:nvPr/></p:nvSpPr>
      <p:spPr>
        <a:xfrm><a:off x="609600" y="1450000"/><a:ext cx="10972800" cy="400000"/></a:xfrm>
      </p:spPr>
      <p:txBody>
        <a:bodyPr lIns="0" tIns="0" rIns="0" bIns="0"/>
        <a:lstStyle/>
        <a:p>
          <a:r>
            <a:rPr lang="en-US" sz="1300"><a:solidFill><a:srgbClr val="94A3B8"/></a:solidFill></a:rPr>
            <a:t>High-concurrency, offline-capable PWA with zero-plaintext cryptographic security</a:t>
          </a:r>
        </a:p>
      </p:txBody>
    </p:sp>

    <!-- Footer -->
    <p:sp>
      <p:nvSpPr><p:cNvPr id="13" name="Footer"/><p:cNvSpPr/><p:nvPr/></p:nvSpPr>
      <p:spPr>
        <a:xfrm><a:off x="609600" y="6250000"/><a:ext cx="10972800" cy="300000"/></a:xfrm>
      </p:spPr>
      <p:txBody>
        <a:bodyPr lIns="0" tIns="0" rIns="0" bIns="0"/>
        <a:lstStyle/>
        <a:p>
          <a:r>
            <a:rPr lang="en-US" sz="950"><a:solidFill><a:srgbClr val="64748B"/></a:solidFill></a:rPr>
            <a:t>Prepared for Abubakar Malami, SAN, CON • Powered by GetoCore × TEEM TECH | IT: Fatima Sulaiman Umar (08035533332 / 09035328748)</a:t>
          </a:r>
          <a:r>
            <a:rPr lang="en-US" sz="1000" b="1"><a:solidFill><a:srgbClr val="10B981"/></a:solidFill></a:rPr>
            <a:t>   |   Slide 4 of 8</a:t>
          </a:r>
        </a:p>
      </p:txBody>
    </p:sp>
    <p:sp>
      <p:nvSpPr>
        <p:cNvPr id="41" name="Card 41"/>
        <p:cNvSpPr/>
        <p:nvPr/>
      </p:nvSpPr>
      <p:spPr>
        <a:xfrm><a:off x="609600" y="2000000"/><a:ext cx="3500000" cy="3900000"/></a:xfrm>
        <a:prstGeom prst="roundRect"><a:avLst><a:gd name="adj" fmla="val 3000"/></a:avLst></a:prstGeom>
        <a:solidFill><a:srgbClr val="0F172A"/></a:solidFill>
        <a:ln w="19050"><a:solidFill><a:srgbClr val="059669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34D399"/></a:solidFill>
            </a:rPr>
            <a:t>OFFLINE-FIRST PWA ENGINE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Built with Next.js 14, TailwindCSS & service workers.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SAN Malami portrait as mobile home screen icon for easy identification.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Works in deep rural areas (Sakaba, Danko-Wasagu, Bagudo) without network.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Instant background synchronization as soon as cellular signal is detected.</a:t>
          </a:r>
        </a:p>
      </p:txBody>
    </p:sp>
    <p:sp>
      <p:nvSpPr>
        <p:cNvPr id="42" name="Card 42"/>
        <p:cNvSpPr/>
        <p:nvPr/>
      </p:nvSpPr>
      <p:spPr>
        <a:xfrm><a:off x="4350000" y="2000000"/><a:ext cx="3500000" cy="3900000"/></a:xfrm>
        <a:prstGeom prst="roundRect"><a:avLst><a:gd name="adj" fmla="val 3000"/></a:avLst></a:prstGeom>
        <a:solidFill><a:srgbClr val="0F172A"/></a:solidFill>
        <a:ln w="19050"><a:solidFill><a:srgbClr val="0284C7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38BDF8"/></a:solidFill>
            </a:rPr>
            <a:t>DUAL GPS & IREV AUDIT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Dual forensic verification: compares PU agent Form EC8A against public INEC IReV upload.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Geo-fence radius <= 15m flags illegal remote collation uploads immediately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Automated scraping of IReV JSON / image endpoints for 3,745 polling units.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Instant discrepancy alerts with Form EC40G court evidence packets.</a:t>
          </a:r>
        </a:p>
      </p:txBody>
    </p:sp>
    <p:sp>
      <p:nvSpPr>
        <p:cNvPr id="43" name="Card 43"/>
        <p:cNvSpPr/>
        <p:nvPr/>
      </p:nvSpPr>
      <p:spPr>
        <a:xfrm><a:off x="8100000" y="2000000"/><a:ext cx="3482400" cy="3900000"/></a:xfrm>
        <a:prstGeom prst="roundRect"><a:avLst><a:gd name="adj" fmla="val 3000"/></a:avLst></a:prstGeom>
        <a:solidFill><a:srgbClr val="0F172A"/></a:solidFill>
        <a:ln w="19050"><a:solidFill><a:srgbClr val="F59E0B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FBBF24"/></a:solidFill>
            </a:rPr>
            <a:t>BILINGUAL AI COPILOT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Floating AI assistant with Hausa & English toggle (EN | HA).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Role-aware: BVAS restart protocols, Section 51 objections, and photo guidelines.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Encrypted SMS/USSD fallback gateway (500,000 SMS capacity).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Toll-free emergency dispatch hotline: 0800-ADC-MALAMI.</a:t>
          </a:r>
        </a:p>
      </p:txBody>
    </p:sp>
    </p:spTree>
  </p:cSld>
  <p:clrMapOvr><a:masterClrMapping/></p:clrMapOvr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<a:solidFill><a:srgbClr val="020617"/></a:solidFill></p:bgPr>
    </p:bg>
    <p:spTree>
      <p:nvGrpSpPr><p:cNvPr id="1" name=""/><p:cNvGrpSpPr/><p:nvPr/></p:nvGrpSpPr>
      <p:grpSpPr><a:xfrm><a:off x="0" y="0"/><a:ext cx="0" cy="0"/><a:chOff x="0" y="0"/><a:chExt cx="0" cy="0"/></a:xfrm></p:grpSpPr>
      
    <!-- Category Badge -->
    <p:sp>
      <p:nvSpPr><p:cNvPr id="10" name="Badge"/><p:cNvSpPr/><p:nvPr/></p:nvSpPr>
      <p:spPr>
        <a:xfrm><a:off x="609600" y="457200"/><a:ext cx="4000000" cy="350000"/></a:xfrm>
        <a:prstGeom prst="roundRect"><a:avLst><a:gd name="adj" fmla="val 10000"/></a:avLst></a:prstGeom>
        <a:solidFill><a:srgbClr val="064E3B"/></a:solidFill>
        <a:ln w="12700"><a:solidFill><a:srgbClr val="10B981"/></a:solidFill></a:ln>
      </p:spPr>
      <p:txBody>
        <a:bodyPr lIns="100000" tIns="50000" rIns="100000" bIns="50000" anchor="ctr"/>
        <a:lstStyle/>
        <a:p>
          <a:pPr algn="ctr"/>
          <a:r>
            <a:rPr lang="en-US" sz="1100" b="1"><a:solidFill><a:srgbClr val="34D399"/></a:solidFill></a:rPr>
            <a:t>SLIDE 5: ELECTORAL MATHEMATICS</a:t>
          </a:r>
        </a:p>
      </p:txBody>
    </p:sp>

    <!-- Main Title -->
    <p:sp>
      <p:nvSpPr><p:cNvPr id="11" name="Title"/><p:cNvSpPr/><p:nvPr/></p:nvSpPr>
      <p:spPr>
        <a:xfrm><a:off x="609600" y="850000"/><a:ext cx="10972800" cy="550000"/></a:xfrm>
      </p:spPr>
      <p:txBody>
        <a:bodyPr lIns="0" tIns="0" rIns="0" bIns="0"/>
        <a:lstStyle/>
        <a:p>
          <a:r>
            <a:rPr lang="en-US" sz="2800" b="1"><a:solidFill><a:srgbClr val="FFFFFF"/></a:solidFill></a:rPr>
            <a:t>Section 179(2) Spread & Section 51 Margin Strategy</a:t>
          </a:r>
        </a:p>
      </p:txBody>
    </p:sp>

    <!-- Subtitle -->
    <p:sp>
      <p:nvSpPr><p:cNvPr id="12" name="Subtitle"/><p:cNvSpPr/><p:nvPr/></p:nvSpPr>
      <p:spPr>
        <a:xfrm><a:off x="609600" y="1450000"/><a:ext cx="10972800" cy="400000"/></a:xfrm>
      </p:spPr>
      <p:txBody>
        <a:bodyPr lIns="0" tIns="0" rIns="0" bIns="0"/>
        <a:lstStyle/>
        <a:p>
          <a:r>
            <a:rPr lang="en-US" sz="1300"><a:solidFill><a:srgbClr val="94A3B8"/></a:solidFill></a:rPr>
            <a:t>Ensuring constitutional spread across 14+ LGAs and insurmountable lead margin</a:t>
          </a:r>
        </a:p>
      </p:txBody>
    </p:sp>

    <!-- Footer -->
    <p:sp>
      <p:nvSpPr><p:cNvPr id="13" name="Footer"/><p:cNvSpPr/><p:nvPr/></p:nvSpPr>
      <p:spPr>
        <a:xfrm><a:off x="609600" y="6250000"/><a:ext cx="10972800" cy="300000"/></a:xfrm>
      </p:spPr>
      <p:txBody>
        <a:bodyPr lIns="0" tIns="0" rIns="0" bIns="0"/>
        <a:lstStyle/>
        <a:p>
          <a:r>
            <a:rPr lang="en-US" sz="950"><a:solidFill><a:srgbClr val="64748B"/></a:solidFill></a:rPr>
            <a:t>Prepared for Abubakar Malami, SAN, CON • Powered by GetoCore × TEEM TECH | IT: Fatima Sulaiman Umar (08035533332 / 09035328748)</a:t>
          </a:r>
          <a:r>
            <a:rPr lang="en-US" sz="1000" b="1"><a:solidFill><a:srgbClr val="10B981"/></a:solidFill></a:rPr>
            <a:t>   |   Slide 5 of 8</a:t>
          </a:r>
        </a:p>
      </p:txBody>
    </p:sp>
    <p:sp>
      <p:nvSpPr>
        <p:cNvPr id="51" name="Card 51"/>
        <p:cNvSpPr/>
        <p:nvPr/>
      </p:nvSpPr>
      <p:spPr>
        <a:xfrm><a:off x="609600" y="2000000"/><a:ext cx="5200000" cy="3900000"/></a:xfrm>
        <a:prstGeom prst="roundRect"><a:avLst><a:gd name="adj" fmla="val 3000"/></a:avLst></a:prstGeom>
        <a:solidFill><a:srgbClr val="0F172A"/></a:solidFill>
        <a:ln w="19050"><a:solidFill><a:srgbClr val="10B981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34D399"/></a:solidFill>
            </a:rPr>
            <a:t>SECTION 179(2) CONSTITUTIONAL SPREAD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Constitutional Threshold: Requires highest number of votes + not less than 25% of votes cast in at least 2/3 of all LGAs (14 of 21 LGAs).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ADC Tactical Fortress (Kebbi Central): Overwhelming victory in Birnin Kebbi, Gwandu, Jega, Kalgo, Aliero, Maiyama, Bunza.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Southern Kebbi Coalition (Zuru & Yauri): Historic strategic alliance with Zuru, Danko-Wasagu, Sakaba, Fakai, Yauri, Ngaski, Shanga.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Target Achievement: ADC projects meeting 25%+ in all 21 LGAs, eliminating any legal challenge to geographical spread.</a:t>
          </a:r>
        </a:p>
      </p:txBody>
    </p:sp>
    <p:sp>
      <p:nvSpPr>
        <p:cNvPr id="52" name="Card 52"/>
        <p:cNvSpPr/>
        <p:nvPr/>
      </p:nvSpPr>
      <p:spPr>
        <a:xfrm><a:off x="6382800" y="2000000"/><a:ext cx="5200000" cy="3900000"/></a:xfrm>
        <a:prstGeom prst="roundRect"><a:avLst><a:gd name="adj" fmla="val 3000"/></a:avLst></a:prstGeom>
        <a:solidFill><a:srgbClr val="064E3B"/></a:solidFill>
        <a:ln w="19050"><a:solidFill><a:srgbClr val="F59E0B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FBBF24"/></a:solidFill>
            </a:rPr>
            <a:t>SECTION 51 SURPLUS MARGIN SHIELD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The Margin of Lead Rule: If Margin of Lead < Cancelled PVCs, Returning Officer must declare election INCONCLUSIVE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Simulated 2027 Projections: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Total ADC Votes: 468,540 (54.5%)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Total APC Votes: 341,210 (39.7%)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Lead Margin: +127,330 votes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Statewide Cancelled PVCs: 52,300 votes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Net Surplus Safety Buffer: +75,030 votes above cancelled PVCs.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Statutory Outcome: Decisive declaration of Abubakar Malami SAN on first ballot!</a:t>
          </a:r>
        </a:p>
      </p:txBody>
    </p:sp>
    </p:spTree>
  </p:cSld>
  <p:clrMapOvr><a:masterClrMapping/></p:clrMapOvr>
</p:sld>
</file>

<file path=ppt/slides/slide6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<a:solidFill><a:srgbClr val="020617"/></a:solidFill></p:bgPr>
    </p:bg>
    <p:spTree>
      <p:nvGrpSpPr><p:cNvPr id="1" name=""/><p:cNvGrpSpPr/><p:nvPr/></p:nvGrpSpPr>
      <p:grpSpPr><a:xfrm><a:off x="0" y="0"/><a:ext cx="0" cy="0"/><a:chOff x="0" y="0"/><a:chExt cx="0" cy="0"/></a:xfrm></p:grpSpPr>
      
    <!-- Category Badge -->
    <p:sp>
      <p:nvSpPr><p:cNvPr id="10" name="Badge"/><p:cNvSpPr/><p:nvPr/></p:nvSpPr>
      <p:spPr>
        <a:xfrm><a:off x="609600" y="457200"/><a:ext cx="4000000" cy="350000"/></a:xfrm>
        <a:prstGeom prst="roundRect"><a:avLst><a:gd name="adj" fmla="val 10000"/></a:avLst></a:prstGeom>
        <a:solidFill><a:srgbClr val="064E3B"/></a:solidFill>
        <a:ln w="12700"><a:solidFill><a:srgbClr val="10B981"/></a:solidFill></a:ln>
      </p:spPr>
      <p:txBody>
        <a:bodyPr lIns="100000" tIns="50000" rIns="100000" bIns="50000" anchor="ctr"/>
        <a:lstStyle/>
        <a:p>
          <a:pPr algn="ctr"/>
          <a:r>
            <a:rPr lang="en-US" sz="1100" b="1"><a:solidFill><a:srgbClr val="34D399"/></a:solidFill></a:rPr>
            <a:t>SLIDE 6: ROLLOUT ROADMAP</a:t>
          </a:r>
        </a:p>
      </p:txBody>
    </p:sp>

    <!-- Main Title -->
    <p:sp>
      <p:nvSpPr><p:cNvPr id="11" name="Title"/><p:cNvSpPr/><p:nvPr/></p:nvSpPr>
      <p:spPr>
        <a:xfrm><a:off x="609600" y="850000"/><a:ext cx="10972800" cy="550000"/></a:xfrm>
      </p:spPr>
      <p:txBody>
        <a:bodyPr lIns="0" tIns="0" rIns="0" bIns="0"/>
        <a:lstStyle/>
        <a:p>
          <a:r>
            <a:rPr lang="en-US" sz="2800" b="1"><a:solidFill><a:srgbClr val="FFFFFF"/></a:solidFill></a:rPr>
            <a:t>Statewide Implementation Timeline & Simulation Drills</a:t>
          </a:r>
        </a:p>
      </p:txBody>
    </p:sp>

    <!-- Subtitle -->
    <p:sp>
      <p:nvSpPr><p:cNvPr id="12" name="Subtitle"/><p:cNvSpPr/><p:nvPr/></p:nvSpPr>
      <p:spPr>
        <a:xfrm><a:off x="609600" y="1450000"/><a:ext cx="10972800" cy="400000"/></a:xfrm>
      </p:spPr>
      <p:txBody>
        <a:bodyPr lIns="0" tIns="0" rIns="0" bIns="0"/>
        <a:lstStyle/>
        <a:p>
          <a:r>
            <a:rPr lang="en-US" sz="1300"><a:solidFill><a:srgbClr val="94A3B8"/></a:solidFill></a:rPr>
            <a:t>Rigorous step-by-step milestones ensuring 100% readiness prior to Election Day</a:t>
          </a:r>
        </a:p>
      </p:txBody>
    </p:sp>

    <!-- Footer -->
    <p:sp>
      <p:nvSpPr><p:cNvPr id="13" name="Footer"/><p:cNvSpPr/><p:nvPr/></p:nvSpPr>
      <p:spPr>
        <a:xfrm><a:off x="609600" y="6250000"/><a:ext cx="10972800" cy="300000"/></a:xfrm>
      </p:spPr>
      <p:txBody>
        <a:bodyPr lIns="0" tIns="0" rIns="0" bIns="0"/>
        <a:lstStyle/>
        <a:p>
          <a:r>
            <a:rPr lang="en-US" sz="950"><a:solidFill><a:srgbClr val="64748B"/></a:solidFill></a:rPr>
            <a:t>Prepared for Abubakar Malami, SAN, CON • Powered by GetoCore × TEEM TECH | IT: Fatima Sulaiman Umar (08035533332 / 09035328748)</a:t>
          </a:r>
          <a:r>
            <a:rPr lang="en-US" sz="1000" b="1"><a:solidFill><a:srgbClr val="10B981"/></a:solidFill></a:rPr>
            <a:t>   |   Slide 6 of 8</a:t>
          </a:r>
        </a:p>
      </p:txBody>
    </p:sp>
    <p:sp>
      <p:nvSpPr>
        <p:cNvPr id="61" name="Card 61"/>
        <p:cNvSpPr/>
        <p:nvPr/>
      </p:nvSpPr>
      <p:spPr>
        <a:xfrm><a:off x="609600" y="2000000"/><a:ext cx="3500000" cy="3900000"/></a:xfrm>
        <a:prstGeom prst="roundRect"><a:avLst><a:gd name="adj" fmla="val 3000"/></a:avLst></a:prstGeom>
        <a:solidFill><a:srgbClr val="0F172A"/></a:solidFill>
        <a:ln w="19050"><a:solidFill><a:srgbClr val="38BDF8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38BDF8"/></a:solidFill>
            </a:rPr>
            <a:t>PHASE 1: PROVISIONING (M-2)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Custom software deployment & stress testing.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Khadimiyya Foundation & ADC ward recruitment.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Printing 4,200 laminated QR-code photo ID badges.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Procurement of 3,745 backup power banks.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Birnin Kebbi Command Centre physical outfitting.</a:t>
          </a:r>
        </a:p>
      </p:txBody>
    </p:sp>
    <p:sp>
      <p:nvSpPr>
        <p:cNvPr id="62" name="Card 62"/>
        <p:cNvSpPr/>
        <p:nvPr/>
      </p:nvSpPr>
      <p:spPr>
        <a:xfrm><a:off x="4350000" y="2000000"/><a:ext cx="3500000" cy="3900000"/></a:xfrm>
        <a:prstGeom prst="roundRect"><a:avLst><a:gd name="adj" fmla="val 3000"/></a:avLst></a:prstGeom>
        <a:solidFill><a:srgbClr val="0F172A"/></a:solidFill>
        <a:ln w="19050"><a:solidFill><a:srgbClr val="F59E0B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FBBF24"/></a:solidFill>
            </a:rPr>
            <a:t>PHASE 2: SIMULATION (M-1)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Zonal training workshops (Central, North, South).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Dry-run simulation drill across all 21 LGAs.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Live BVAS zero-reading and mock EC8A upload.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SMS gateway and satellite comms stress test.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Serving legal protocols on INEC REC and security.</a:t>
          </a:r>
        </a:p>
      </p:txBody>
    </p:sp>
    <p:sp>
      <p:nvSpPr>
        <p:cNvPr id="63" name="Card 63"/>
        <p:cNvSpPr/>
        <p:nvPr/>
      </p:nvSpPr>
      <p:spPr>
        <a:xfrm><a:off x="8100000" y="2000000"/><a:ext cx="3482400" cy="3900000"/></a:xfrm>
        <a:prstGeom prst="roundRect"><a:avLst><a:gd name="adj" fmla="val 3000"/></a:avLst></a:prstGeom>
        <a:solidFill><a:srgbClr val="064E3B"/></a:solidFill>
        <a:ln w="19050"><a:solidFill><a:srgbClr val="10B981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34D399"/></a:solidFill>
            </a:rPr>
            <a:t>PHASE 3: E-DAY EXECUTION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07:00 AM: Arrival & BVAS 000 verification.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02:30 PM: Queue cutoff enforcement.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04:30 PM: Form EC8A snapping & telemetry push.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08:00 PM: Form EC8B & EC8C live reconciliation.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02:00 AM: Form EC8D State Declaration Defense.</a:t>
          </a:r>
        </a:p>
      </p:txBody>
    </p:sp>
    </p:spTree>
  </p:cSld>
  <p:clrMapOvr><a:masterClrMapping/></p:clrMapOvr>
</p:sld>
</file>

<file path=ppt/slides/slide7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<a:solidFill><a:srgbClr val="020617"/></a:solidFill></p:bgPr>
    </p:bg>
    <p:spTree>
      <p:nvGrpSpPr><p:cNvPr id="1" name=""/><p:cNvGrpSpPr/><p:nvPr/></p:nvGrpSpPr>
      <p:grpSpPr><a:xfrm><a:off x="0" y="0"/><a:ext cx="0" cy="0"/><a:chOff x="0" y="0"/><a:chExt cx="0" cy="0"/></a:xfrm></p:grpSpPr>
      
    <!-- Category Badge -->
    <p:sp>
      <p:nvSpPr><p:cNvPr id="10" name="Badge"/><p:cNvSpPr/><p:nvPr/></p:nvSpPr>
      <p:spPr>
        <a:xfrm><a:off x="609600" y="457200"/><a:ext cx="4000000" cy="350000"/></a:xfrm>
        <a:prstGeom prst="roundRect"><a:avLst><a:gd name="adj" fmla="val 10000"/></a:avLst></a:prstGeom>
        <a:solidFill><a:srgbClr val="064E3B"/></a:solidFill>
        <a:ln w="12700"><a:solidFill><a:srgbClr val="10B981"/></a:solidFill></a:ln>
      </p:spPr>
      <p:txBody>
        <a:bodyPr lIns="100000" tIns="50000" rIns="100000" bIns="50000" anchor="ctr"/>
        <a:lstStyle/>
        <a:p>
          <a:pPr algn="ctr"/>
          <a:r>
            <a:rPr lang="en-US" sz="1100" b="1"><a:solidFill><a:srgbClr val="34D399"/></a:solidFill></a:rPr>
            <a:t>SLIDE 7: FINANCIAL IMPLICATIONS</a:t>
          </a:r>
        </a:p>
      </p:txBody>
    </p:sp>

    <!-- Main Title -->
    <p:sp>
      <p:nvSpPr><p:cNvPr id="11" name="Title"/><p:cNvSpPr/><p:nvPr/></p:nvSpPr>
      <p:spPr>
        <a:xfrm><a:off x="609600" y="850000"/><a:ext cx="10972800" cy="550000"/></a:xfrm>
      </p:spPr>
      <p:txBody>
        <a:bodyPr lIns="0" tIns="0" rIns="0" bIns="0"/>
        <a:lstStyle/>
        <a:p>
          <a:r>
            <a:rPr lang="en-US" sz="2800" b="1"><a:solidFill><a:srgbClr val="FFFFFF"/></a:solidFill></a:rPr>
            <a:t>Comprehensive Turnkey Budget Breakdown (₦329,000,000)</a:t>
          </a:r>
        </a:p>
      </p:txBody>
    </p:sp>

    <!-- Subtitle -->
    <p:sp>
      <p:nvSpPr><p:cNvPr id="12" name="Subtitle"/><p:cNvSpPr/><p:nvPr/></p:nvSpPr>
      <p:spPr>
        <a:xfrm><a:off x="609600" y="1450000"/><a:ext cx="10972800" cy="400000"/></a:xfrm>
      </p:spPr>
      <p:txBody>
        <a:bodyPr lIns="0" tIns="0" rIns="0" bIns="0"/>
        <a:lstStyle/>
        <a:p>
          <a:r>
            <a:rPr lang="en-US" sz="1300"><a:solidFill><a:srgbClr val="94A3B8"/></a:solidFill></a:rPr>
            <a:t>Transparent, itemized capital and operational cost structure across 7 cost centers</a:t>
          </a:r>
        </a:p>
      </p:txBody>
    </p:sp>

    <!-- Footer -->
    <p:sp>
      <p:nvSpPr><p:cNvPr id="13" name="Footer"/><p:cNvSpPr/><p:nvPr/></p:nvSpPr>
      <p:spPr>
        <a:xfrm><a:off x="609600" y="6250000"/><a:ext cx="10972800" cy="300000"/></a:xfrm>
      </p:spPr>
      <p:txBody>
        <a:bodyPr lIns="0" tIns="0" rIns="0" bIns="0"/>
        <a:lstStyle/>
        <a:p>
          <a:r>
            <a:rPr lang="en-US" sz="950"><a:solidFill><a:srgbClr val="64748B"/></a:solidFill></a:rPr>
            <a:t>Prepared for Abubakar Malami, SAN, CON • Powered by GetoCore × TEEM TECH | IT: Fatima Sulaiman Umar (08035533332 / 09035328748)</a:t>
          </a:r>
          <a:r>
            <a:rPr lang="en-US" sz="1000" b="1"><a:solidFill><a:srgbClr val="10B981"/></a:solidFill></a:rPr>
            <a:t>   |   Slide 7 of 8</a:t>
          </a:r>
        </a:p>
      </p:txBody>
    </p:sp>
    <p:sp>
      <p:nvSpPr>
        <p:cNvPr id="71" name="Card 71"/>
        <p:cNvSpPr/>
        <p:nvPr/>
      </p:nvSpPr>
      <p:spPr>
        <a:xfrm><a:off x="609600" y="2000000"/><a:ext cx="5200000" cy="3900000"/></a:xfrm>
        <a:prstGeom prst="roundRect"><a:avLst><a:gd name="adj" fmla="val 3000"/></a:avLst></a:prstGeom>
        <a:solidFill><a:srgbClr val="0F172A"/></a:solidFill>
        <a:ln w="19050"><a:solidFill><a:srgbClr val="10B981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34D399"/></a:solidFill>
            </a:rPr>
            <a:t>ITEMIZED COST CENTERS (NGN ₦)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1. Polling Unit Agent Network (3,745 PUs + 375 Runners): ₦121,725,000 (37.0%)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2. Ward (RA) Supervisors & RAC Collation (225 Wards): ₦23,625,000 (7.2%)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3. LGA Collation & Legal Shield Teams (21 LGAs): ₦14,175,000 (4.3%)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4. Central Situation Room & Command HQ (Birnin Kebbi): ₦37,600,000 (11.4%)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5. Software Engine & Telemetry (GetoCore × TEEM TECH): ₦50,000,000 (15.2%)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6. Field Kits, QR Badges & 3,745 Power Banks: ₦44,082,500 (13.4%)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7. Legal Shield, CTC Procurement & Contingency: ₦37,792,500 (11.5%)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TOTAL MANDATE SECURITY BUDGET: ₦329,000,000 (100.0%)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Unit Metric: Approximately ₦87,850 per Polling Unit for total victory defense.</a:t>
          </a:r>
        </a:p>
      </p:txBody>
    </p:sp>
    <p:sp>
      <p:nvSpPr>
        <p:cNvPr id="72" name="Card 72"/>
        <p:cNvSpPr/>
        <p:nvPr/>
      </p:nvSpPr>
      <p:spPr>
        <a:xfrm><a:off x="6382800" y="2000000"/><a:ext cx="5200000" cy="3900000"/></a:xfrm>
        <a:prstGeom prst="roundRect"><a:avLst><a:gd name="adj" fmla="val 3000"/></a:avLst></a:prstGeom>
        <a:solidFill><a:srgbClr val="1E1B4B"/></a:solidFill>
        <a:ln w="19050"><a:solidFill><a:srgbClr val="818CF8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C7D2FE"/></a:solidFill>
            </a:rPr>
            <a:t>PHASED 3-TRANCHE DISBURSEMENT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Tranche 1: Mobilization & Tech Provisioning (40%):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₦131,600,000 due at contract execution (T - 60 Days).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Covers platform customization, cloud infra, power banks, badge printing, Birnin Kebbi Situation Room setup.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Tranche 2: Field Training & Mock Simulation (35%):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₦115,150,000 due upon platform readiness (T - 21 Days).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Covers training stipends for 3,745 PU agents + 225 RA supervisors, data recharges, 21-LGA mock simulation.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Tranche 3: D-Day Operations & Legal Vault (25%):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₦82,250,000 due 5 days before election (T - 5 Days).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• Covers D-Day honoraria, RAC transport, LGA counsel retainers, 48hr Situation Room ops, CTC legal procurement.</a:t>
          </a:r>
        </a:p>
      </p:txBody>
    </p:sp>
    </p:spTree>
  </p:cSld>
  <p:clrMapOvr><a:masterClrMapping/></p:clrMapOvr>
</p:sld>
</file>

<file path=ppt/slides/slide8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
      <p:bgPr><a:solidFill><a:srgbClr val="020617"/></a:solidFill></p:bgPr>
    </p:bg>
    <p:spTree>
      <p:nvGrpSpPr><p:cNvPr id="1" name=""/><p:cNvGrpSpPr/><p:nvPr/></p:nvGrpSpPr>
      <p:grpSpPr><a:xfrm><a:off x="0" y="0"/><a:ext cx="0" cy="0"/><a:chOff x="0" y="0"/><a:chExt cx="0" cy="0"/></a:xfrm></p:grpSpPr>
      
    <!-- Category Badge -->
    <p:sp>
      <p:nvSpPr><p:cNvPr id="10" name="Badge"/><p:cNvSpPr/><p:nvPr/></p:nvSpPr>
      <p:spPr>
        <a:xfrm><a:off x="609600" y="457200"/><a:ext cx="4000000" cy="350000"/></a:xfrm>
        <a:prstGeom prst="roundRect"><a:avLst><a:gd name="adj" fmla="val 10000"/></a:avLst></a:prstGeom>
        <a:solidFill><a:srgbClr val="064E3B"/></a:solidFill>
        <a:ln w="12700"><a:solidFill><a:srgbClr val="10B981"/></a:solidFill></a:ln>
      </p:spPr>
      <p:txBody>
        <a:bodyPr lIns="100000" tIns="50000" rIns="100000" bIns="50000" anchor="ctr"/>
        <a:lstStyle/>
        <a:p>
          <a:pPr algn="ctr"/>
          <a:r>
            <a:rPr lang="en-US" sz="1100" b="1"><a:solidFill><a:srgbClr val="34D399"/></a:solidFill></a:rPr>
            <a:t>SLIDE 8: GOVERNANCE & CALL TO ACTION</a:t>
          </a:r>
        </a:p>
      </p:txBody>
    </p:sp>

    <!-- Main Title -->
    <p:sp>
      <p:nvSpPr><p:cNvPr id="11" name="Title"/><p:cNvSpPr/><p:nvPr/></p:nvSpPr>
      <p:spPr>
        <a:xfrm><a:off x="609600" y="850000"/><a:ext cx="10972800" cy="550000"/></a:xfrm>
      </p:spPr>
      <p:txBody>
        <a:bodyPr lIns="0" tIns="0" rIns="0" bIns="0"/>
        <a:lstStyle/>
        <a:p>
          <a:r>
            <a:rPr lang="en-US" sz="2800" b="1"><a:solidFill><a:srgbClr val="FFFFFF"/></a:solidFill></a:rPr>
            <a:t>Accountability Controls & Project Commissioning</a:t>
          </a:r>
        </a:p>
      </p:txBody>
    </p:sp>

    <!-- Subtitle -->
    <p:sp>
      <p:nvSpPr><p:cNvPr id="12" name="Subtitle"/><p:cNvSpPr/><p:nvPr/></p:nvSpPr>
      <p:spPr>
        <a:xfrm><a:off x="609600" y="1450000"/><a:ext cx="10972800" cy="400000"/></a:xfrm>
      </p:spPr>
      <p:txBody>
        <a:bodyPr lIns="0" tIns="0" rIns="0" bIns="0"/>
        <a:lstStyle/>
        <a:p>
          <a:r>
            <a:rPr lang="en-US" sz="1300"><a:solidFill><a:srgbClr val="94A3B8"/></a:solidFill></a:rPr>
            <a:t>Guaranteed auditability, zero waste, and immediate next steps for execution</a:t>
          </a:r>
        </a:p>
      </p:txBody>
    </p:sp>

    <!-- Footer -->
    <p:sp>
      <p:nvSpPr><p:cNvPr id="13" name="Footer"/><p:cNvSpPr/><p:nvPr/></p:nvSpPr>
      <p:spPr>
        <a:xfrm><a:off x="609600" y="6250000"/><a:ext cx="10972800" cy="300000"/></a:xfrm>
      </p:spPr>
      <p:txBody>
        <a:bodyPr lIns="0" tIns="0" rIns="0" bIns="0"/>
        <a:lstStyle/>
        <a:p>
          <a:r>
            <a:rPr lang="en-US" sz="950"><a:solidFill><a:srgbClr val="64748B"/></a:solidFill></a:rPr>
            <a:t>Prepared for Abubakar Malami, SAN, CON • Powered by GetoCore × TEEM TECH | IT: Fatima Sulaiman Umar (08035533332 / 09035328748)</a:t>
          </a:r>
          <a:r>
            <a:rPr lang="en-US" sz="1000" b="1"><a:solidFill><a:srgbClr val="10B981"/></a:solidFill></a:rPr>
            <a:t>   |   Slide 8 of 8</a:t>
          </a:r>
        </a:p>
      </p:txBody>
    </p:sp>
    <p:sp>
      <p:nvSpPr>
        <p:cNvPr id="81" name="Card 81"/>
        <p:cNvSpPr/>
        <p:nvPr/>
      </p:nvSpPr>
      <p:spPr>
        <a:xfrm><a:off x="609600" y="2000000"/><a:ext cx="5200000" cy="3900000"/></a:xfrm>
        <a:prstGeom prst="roundRect"><a:avLst><a:gd name="adj" fmla="val 3000"/></a:avLst></a:prstGeom>
        <a:solidFill><a:srgbClr val="0F172A"/></a:solidFill>
        <a:ln w="19050"><a:solidFill><a:srgbClr val="38BDF8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38BDF8"/></a:solidFill>
            </a:rPr>
            <a:t>FINANCIAL GOVERNANCE & AUDIT TRAIL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Biometric / Phone Number Validation: Agent payments disbursed via direct bank transfer tied to verified PVC and accredited PU code.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Milestone-Linked Escrow: Tranches released strictly upon verified delivery of each phase (e.g. 100% badge verification before Tranche 2).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Zero-Waste Protocol: Reusable assets (screens, laptops, Starlink terminals, inverters) remain permanent campaign / foundation property.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Real-Time Expenditure Telemetry: Financial dashboard tracking every disbursement across all 21 Local Government Areas.</a:t>
          </a:r>
        </a:p>
      </p:txBody>
    </p:sp>
    <p:sp>
      <p:nvSpPr>
        <p:cNvPr id="82" name="Card 82"/>
        <p:cNvSpPr/>
        <p:nvPr/>
      </p:nvSpPr>
      <p:spPr>
        <a:xfrm><a:off x="6382800" y="2000000"/><a:ext cx="5200000" cy="3900000"/></a:xfrm>
        <a:prstGeom prst="roundRect"><a:avLst><a:gd name="adj" fmla="val 3000"/></a:avLst></a:prstGeom>
        <a:solidFill><a:srgbClr val="064E3B"/></a:solidFill>
        <a:ln w="19050"><a:solidFill><a:srgbClr val="F59E0B"/></a:solidFill></a:ln>
      </p:spPr>
      <p:txBody>
        <a:bodyPr lIns="200000" tIns="200000" rIns="200000" bIns="200000"/>
        <a:lstStyle/>
        <a:p>
          <a:pPr><a:spcAft><a:spcPts val="800"/></a:spcAft></a:pPr>
          <a:r>
            <a:rPr lang="en-US" sz="2000" b="1">
              <a:solidFill><a:srgbClr val="FBBF24"/></a:solidFill>
            </a:rPr>
            <a:t>EXECUTIVE SIGN-OFF & COMMISSIONING</a:t>
          </a:r>
        </a:p>
        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Immediate Next Steps: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1. Formal approval of the ₦329M Budget and 3-Tranche Schedule.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2. Commissioning of GetoCore Digital Innovation & TEEM TECH Solution as Lead Electoral Systems Architects.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  3. Establishment of the Birnin Kebbi Situation Room facility lease.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Lead IT Technical Officer: Fatima Sulaiman Umar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Support Hotlines: 08035533332 / 09035328748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</a:t>
          </a:r>
        </a:p>
        <a:p>
          <a:pPr lvl="0" marL="285750"><a:buChar char="•"/><a:spcBef><a:spcPts val="600"/></a:spcBef></a:pPr>
          <a:r>
            <a:rPr lang="en-US" sz="1300" b="0">
              <a:solidFill><a:srgbClr val="CBD5E1"/></a:solidFill>
            </a:rPr>
            <a:t>Confidence Commitment: This architecture guarantees that every vote cast for Abubakar Malami, SAN in all 3,745 PUs is counted, transmitted, and legally defended to the Supreme Court.</a:t>
          </a:r>
        </a:p>
      </p:txBody>
    </p:sp>
    </p:spTree>
  </p:cSld>
  <p:clrMapOvr><a:masterClrMapping/></p:clrMapOvr>
</p:sld>
</file>

<file path=ppt/theme/theme1.xml><?xml version="1.0" encoding="utf-8"?>
<a:theme xmlns:a="http://schemas.openxmlformats.org/drawingml/2006/main" name="ADC Malami Theme">
  <a:themeElements>
    <a:clrScheme name="MalamiExecutive">
      <a:dk1>
        <a:srgbClr val="020617"/>
      </a:dk1>
      <a:lt1>
        <a:srgbClr val="F8FAFC"/>
      </a:lt1>
      <a:dk2>
        <a:srgbClr val="0F172A"/>
      </a:dk2>
      <a:lt2>
        <a:srgbClr val="E2E8F0"/>
      </a:lt2>
      <a:accent1>
        <a:srgbClr val="059669"/>
      </a:accent1>
      <a:accent2>
        <a:srgbClr val="D97706"/>
      </a:accent2>
      <a:accent3>
        <a:srgbClr val="0284C7"/>
      </a:accent3>
      <a:accent4>
        <a:srgbClr val="10B981"/>
      </a:accent4>
      <a:accent5>
        <a:srgbClr val="F59E0B"/>
      </a:accent5>
      <a:accent6>
        <a:srgbClr val="64748B"/>
      </a:accent6>
      <a:hlink>
        <a:srgbClr val="38BDF8"/>
      </a:hlink>
      <a:folHlink>
        <a:srgbClr val="A855F7"/>
      </a:folHlink>
    </a:clrScheme>
    <a:fontScheme name="Office">
      <a:majorFont>
        <a:latin typeface="Helvetica Neue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